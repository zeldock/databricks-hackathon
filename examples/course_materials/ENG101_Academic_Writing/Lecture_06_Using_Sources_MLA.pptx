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8250DF"/>
                </a:solidFill>
              </a:rPr>
              <a:t>Using Sources and MLA Citation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 101 · Week 6</a:t>
            </a:r>
          </a:p>
          <a:p>
            <a:r>
              <a:t>Dr. Morgan Ellis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ENG 101 · Academic Writing and Research · Example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250DF"/>
                </a:solidFill>
              </a:rPr>
              <a:t>Quote, paraphrase or summarize?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Quote when the exact wording matters</a:t>
            </a:r>
          </a:p>
          <a:p>
            <a:r>
              <a:rPr sz="2600"/>
              <a:t>Paraphrase to restate a specific idea in your own words and structure</a:t>
            </a:r>
          </a:p>
          <a:p>
            <a:r>
              <a:rPr sz="2600"/>
              <a:t>Summarize to condense the main point of a longer passage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ENG 101 · Academic Writing and Research · Example State University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250DF"/>
                </a:solidFill>
              </a:rPr>
              <a:t>The quotation sandwich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Introduce the source (signal phrase): “As Smith argues, …”</a:t>
            </a:r>
          </a:p>
          <a:p>
            <a:r>
              <a:rPr sz="2600"/>
              <a:t>Give the quotation or paraphrase with an in-text citation</a:t>
            </a:r>
          </a:p>
          <a:p>
            <a:r>
              <a:rPr sz="2600"/>
              <a:t>Explain how it supports your point — never let a quote speak for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ENG 101 · Academic Writing and Research · Example State University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250DF"/>
                </a:solidFill>
              </a:rPr>
              <a:t>MLA in-text citations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Author's last name and page number: (Smith 42)</a:t>
            </a:r>
          </a:p>
          <a:p>
            <a:r>
              <a:rPr sz="2600"/>
              <a:t>No page? Use just the author: (Smith)</a:t>
            </a:r>
          </a:p>
          <a:p>
            <a:r>
              <a:rPr sz="2600"/>
              <a:t>Every in-text citation must match an entry in Works Cited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ENG 101 · Academic Writing and Research · Example State University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250DF"/>
                </a:solidFill>
              </a:rPr>
              <a:t>Works Cited entries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Author. Title. Container, Other contributors, Version, Number, Publisher, Date, Location.</a:t>
            </a:r>
          </a:p>
          <a:p>
            <a:r>
              <a:rPr sz="2600"/>
              <a:t>Alphabetize by author's last name; use a hanging indent</a:t>
            </a:r>
          </a:p>
          <a:p>
            <a:r>
              <a:rPr sz="2600"/>
              <a:t>Include DOIs or URLs for online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ENG 101 · Academic Writing and Research · Example State University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8250DF"/>
                </a:solidFill>
              </a:rPr>
              <a:t>Avoiding 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Cite paraphrases and summaries, not just quotations</a:t>
            </a:r>
          </a:p>
          <a:p>
            <a:r>
              <a:rPr sz="2600"/>
              <a:t>Keep source notes separate from your own ideas while researching</a:t>
            </a:r>
          </a:p>
          <a:p>
            <a:r>
              <a:rPr sz="2600"/>
              <a:t>When in doubt, cite — or ask the Writing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25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ENG 101 · Academic Writing and Research · Example State University 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